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47120" y="0"/>
            <a:ext cx="914400" cy="164592"/>
          </a:xfrm>
          <a:prstGeom prst="roundRect">
            <a:avLst>
              <a:gd name="adj" fmla="val 4000"/>
            </a:avLst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48640"/>
            <a:ext cx="640080" cy="640080"/>
          </a:xfrm>
          <a:prstGeom prst="roundRect">
            <a:avLst>
              <a:gd name="adj" fmla="val 4000"/>
            </a:avLst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200" b="1" i="0">
                <a:solidFill>
                  <a:srgbClr val="B8860B"/>
                </a:solidFill>
                <a:latin typeface="Cambria"/>
              </a:rPr>
              <a:t>FLIPUS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10642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0" i="1">
                <a:solidFill>
                  <a:srgbClr val="FFFFFF"/>
                </a:solidFill>
                <a:latin typeface="Cambria"/>
              </a:rPr>
              <a:t>Pricing &amp; Commercial Model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 i="0">
                <a:solidFill>
                  <a:srgbClr val="F5EFE0"/>
                </a:solidFill>
                <a:latin typeface="Calibri"/>
              </a:rPr>
              <a:t>Sistem Perpuluhan &amp; Persembahan GMAHK — UKIKT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F5EFE0"/>
                </a:solidFill>
                <a:latin typeface="Calibri"/>
              </a:rPr>
              <a:t>Prepared for demo · GMAHK Uni Konferens Indonesia Kawasan Timur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F5EFE0"/>
                </a:solidFill>
                <a:latin typeface="Calibri"/>
              </a:rPr>
              <a:t>Agustus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B8860B"/>
                </a:solidFill>
                <a:latin typeface="Cambria"/>
              </a:rPr>
              <a:t>Mengapa FLIPUS?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Tata kelola persembahan gereja yang terbuka, akuntabel, modern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10312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640080" cy="64008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 i="0">
                <a:solidFill>
                  <a:srgbClr val="B8860B"/>
                </a:solidFill>
                <a:latin typeface="Calibri"/>
              </a:rPr>
              <a:t>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28600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Multi-Tenant 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834640"/>
            <a:ext cx="41148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D2A26"/>
                </a:solidFill>
                <a:latin typeface="Calibri"/>
              </a:rPr>
              <a:t>Setiap jemaat, misi, uni punya ruang sendiri. Data terpisah, branding terpisah.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011680"/>
            <a:ext cx="5303520" cy="210312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2286000"/>
            <a:ext cx="640080" cy="64008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 i="0">
                <a:solidFill>
                  <a:srgbClr val="B8860B"/>
                </a:solidFill>
                <a:latin typeface="Calibri"/>
              </a:rPr>
              <a:t>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28600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OCR Amplop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834640"/>
            <a:ext cx="41148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D2A26"/>
                </a:solidFill>
                <a:latin typeface="Calibri"/>
              </a:rPr>
              <a:t>Foto amplop perpuluhan, sistem otomatis membaca nominal. Bendahara tinggal verifikasi.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97680"/>
            <a:ext cx="5303520" cy="210312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572000"/>
            <a:ext cx="640080" cy="64008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720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 i="0">
                <a:solidFill>
                  <a:srgbClr val="B8860B"/>
                </a:solidFill>
                <a:latin typeface="Calibri"/>
              </a:rPr>
              <a:t>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57200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WhatsApp Otomatis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120640"/>
            <a:ext cx="41148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D2A26"/>
                </a:solidFill>
                <a:latin typeface="Calibri"/>
              </a:rPr>
              <a:t>Laporan mingguan ke Pendeta via WA + lampiran PDF. Auto-thanks ke pemberi.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297680"/>
            <a:ext cx="5303520" cy="210312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0" y="4572000"/>
            <a:ext cx="640080" cy="64008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5720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 i="0">
                <a:solidFill>
                  <a:srgbClr val="B8860B"/>
                </a:solidFill>
                <a:latin typeface="Calibri"/>
              </a:rP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57200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Security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5120640"/>
            <a:ext cx="41148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D2A26"/>
                </a:solidFill>
                <a:latin typeface="Calibri"/>
              </a:rPr>
              <a:t>JWT + Fernet encryption + 2FA TOTP + role-based access + audit log lengkap.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B8860B"/>
                </a:solidFill>
                <a:latin typeface="Cambria"/>
              </a:rPr>
              <a:t>4 Model Komersial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Pilih model sesuai kebutuhan &amp; kemampuan investasi Anda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697480" cy="420624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697480" cy="9144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6974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B8860B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1B4332"/>
                </a:solidFill>
                <a:latin typeface="Calibri"/>
              </a:rPr>
              <a:t>Jual Lepas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1B4332"/>
                </a:solidFill>
                <a:latin typeface="Calibri"/>
              </a:rPr>
              <a:t>Permanen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233172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2D2A26"/>
                </a:solidFill>
                <a:latin typeface="Calibri"/>
              </a:rPr>
              <a:t>White-label +
resale rights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011680"/>
            <a:ext cx="2697480" cy="420624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011680"/>
            <a:ext cx="2697480" cy="9144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011680"/>
            <a:ext cx="26974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B8860B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06324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1B4332"/>
                </a:solidFill>
                <a:latin typeface="Calibri"/>
              </a:rPr>
              <a:t>Jual Kontrol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5204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0F4C5C"/>
                </a:solidFill>
                <a:latin typeface="Calibri"/>
              </a:rPr>
              <a:t>Source-available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4206240"/>
            <a:ext cx="233172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2D2A26"/>
                </a:solidFill>
                <a:latin typeface="Calibri"/>
              </a:rPr>
              <a:t>Maintenance
terserah kami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011680"/>
            <a:ext cx="2697480" cy="420624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011680"/>
            <a:ext cx="2697480" cy="9144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011680"/>
            <a:ext cx="26974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B8860B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6324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1B4332"/>
                </a:solidFill>
                <a:latin typeface="Calibri"/>
              </a:rPr>
              <a:t>Sewa Tanpa Kontrak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5204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B8860B"/>
                </a:solidFill>
                <a:latin typeface="Calibri"/>
              </a:rPr>
              <a:t>Pay-as-you-go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06240"/>
            <a:ext cx="233172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2D2A26"/>
                </a:solidFill>
                <a:latin typeface="Calibri"/>
              </a:rPr>
              <a:t>Setup fee +
monthly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011680"/>
            <a:ext cx="2697480" cy="420624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2011680"/>
            <a:ext cx="2697480" cy="914400"/>
          </a:xfrm>
          <a:prstGeom prst="rect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2011680"/>
            <a:ext cx="26974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B8860B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06324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1B4332"/>
                </a:solidFill>
                <a:latin typeface="Calibri"/>
              </a:rPr>
              <a:t>Sewa Kontrak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5204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B4226"/>
                </a:solidFill>
                <a:latin typeface="Calibri"/>
              </a:rPr>
              <a:t>5 tahun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206240"/>
            <a:ext cx="233172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2D2A26"/>
                </a:solidFill>
                <a:latin typeface="Calibri"/>
              </a:rPr>
              <a:t>Discount +
committed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8288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5600" b="1" i="0">
                <a:solidFill>
                  <a:srgbClr val="B8860B"/>
                </a:solidFill>
                <a:latin typeface="Cambr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74320"/>
            <a:ext cx="96012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Jual Lepas Permanen</a:t>
            </a:r>
          </a:p>
          <a:p>
            <a:pPr algn="l"/>
            <a:r>
              <a:rPr sz="1300" b="0" i="1">
                <a:solidFill>
                  <a:srgbClr val="F5EFE0"/>
                </a:solidFill>
                <a:latin typeface="Calibri"/>
              </a:rPr>
              <a:t>White-label + IP transfer + resale rights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Pricing (One-time)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86400" cy="64008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200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2D2A26"/>
                </a:solidFill>
                <a:latin typeface="Calibri"/>
              </a:rPr>
              <a:t>Single Jemaat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01168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400" b="1" i="0">
                <a:solidFill>
                  <a:srgbClr val="1B4332"/>
                </a:solidFill>
                <a:latin typeface="Calibri"/>
              </a:rPr>
              <a:t>Rp 35-50 juta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200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2D2A26"/>
                </a:solidFill>
                <a:latin typeface="Calibri"/>
              </a:rPr>
              <a:t>Multi-Jemaat (1 Misi)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6517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400" b="1" i="0">
                <a:solidFill>
                  <a:srgbClr val="1B4332"/>
                </a:solidFill>
                <a:latin typeface="Calibri"/>
              </a:rPr>
              <a:t>Rp 100-150 juta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91840"/>
            <a:ext cx="5486400" cy="64008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3200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2D2A26"/>
                </a:solidFill>
                <a:latin typeface="Calibri"/>
              </a:rPr>
              <a:t>Multi-Misi (1 Uni)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2918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400" b="1" i="0">
                <a:solidFill>
                  <a:srgbClr val="1B4332"/>
                </a:solidFill>
                <a:latin typeface="Calibri"/>
              </a:rPr>
              <a:t>Rp 200-300 juta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3200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2D2A26"/>
                </a:solidFill>
                <a:latin typeface="Calibri"/>
              </a:rPr>
              <a:t>Enterprise Custom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93192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400" b="1" i="0">
                <a:solidFill>
                  <a:srgbClr val="1B4332"/>
                </a:solidFill>
                <a:latin typeface="Calibri"/>
              </a:rPr>
              <a:t>Rp 350-600 juta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Yang Anda Dapatkan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486400" cy="3657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E7D32"/>
                </a:solidFill>
                <a:latin typeface="Calibri"/>
              </a:rPr>
              <a:t>✓ Full source code + IP transfer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E7D32"/>
                </a:solidFill>
                <a:latin typeface="Calibri"/>
              </a:rPr>
              <a:t>✓ Bebas modifikasi &amp; jual ulang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E7D32"/>
                </a:solidFill>
                <a:latin typeface="Calibri"/>
              </a:rPr>
              <a:t>✓ Dokumentasi teknis lengkap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E7D32"/>
                </a:solidFill>
                <a:latin typeface="Calibri"/>
              </a:rPr>
              <a:t>✓ Training awal (1-2 hari)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E7D32"/>
                </a:solidFill>
                <a:latin typeface="Calibri"/>
              </a:rPr>
              <a:t>✓ 1 tahun support via email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6B6B6B"/>
                </a:solidFill>
                <a:latin typeface="Calibri"/>
              </a:rPr>
              <a:t>✗ Tidak termasuk update fitur baru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6B6B6B"/>
                </a:solidFill>
                <a:latin typeface="Calibri"/>
              </a:rPr>
              <a:t>✗ Tidak termasuk maintenance ongoing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5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512064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⚠ Pertimbangkan</a:t>
            </a:r>
          </a:p>
          <a:p>
            <a:pPr algn="l"/>
            <a:r>
              <a:rPr sz="1100" b="0" i="0">
                <a:solidFill>
                  <a:srgbClr val="2D2A26"/>
                </a:solidFill>
                <a:latin typeface="Calibri"/>
              </a:rPr>
              <a:t>Customer bisa jadi kompetitor (resale di region</a:t>
            </a:r>
          </a:p>
          <a:p>
            <a:pPr algn="l"/>
            <a:r>
              <a:rPr sz="1100" b="0" i="0">
                <a:solidFill>
                  <a:srgbClr val="2D2A26"/>
                </a:solidFill>
                <a:latin typeface="Calibri"/>
              </a:rPr>
              <a:t>yang sama). Tambahkan klausul non-compete atau</a:t>
            </a:r>
          </a:p>
          <a:p>
            <a:pPr algn="l"/>
            <a:r>
              <a:rPr sz="1100" b="0" i="0">
                <a:solidFill>
                  <a:srgbClr val="2D2A26"/>
                </a:solidFill>
                <a:latin typeface="Calibri"/>
              </a:rPr>
              <a:t>bundle dengan mandatory support contract.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8288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5600" b="1" i="0">
                <a:solidFill>
                  <a:srgbClr val="B8860B"/>
                </a:solidFill>
                <a:latin typeface="Cambria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74320"/>
            <a:ext cx="96012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Jual Kontrol</a:t>
            </a:r>
          </a:p>
          <a:p>
            <a:pPr algn="l"/>
            <a:r>
              <a:rPr sz="1300" b="0" i="1">
                <a:solidFill>
                  <a:srgbClr val="F5EFE0"/>
                </a:solidFill>
                <a:latin typeface="Calibri"/>
              </a:rPr>
              <a:t>Binary + maintenance contract, no resale rights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Pricing License + Maintenance/Year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8860B"/>
                </a:solidFill>
                <a:latin typeface="Calibri"/>
              </a:rPr>
              <a:t>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0116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B8860B"/>
                </a:solidFill>
                <a:latin typeface="Calibri"/>
              </a:rPr>
              <a:t>License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01168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B8860B"/>
                </a:solidFill>
                <a:latin typeface="Calibri"/>
              </a:rPr>
              <a:t>Maintenance/Yr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7315200" cy="64008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3200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2D2A26"/>
                </a:solidFill>
                <a:latin typeface="Calibri"/>
              </a:rPr>
              <a:t>Single Jemaat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46888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300" b="1" i="0">
                <a:solidFill>
                  <a:srgbClr val="1B4332"/>
                </a:solidFill>
                <a:latin typeface="Calibri"/>
              </a:rPr>
              <a:t>Rp 20-30 juta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46888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300" b="0" i="0">
                <a:solidFill>
                  <a:srgbClr val="0F4C5C"/>
                </a:solidFill>
                <a:latin typeface="Calibri"/>
              </a:rPr>
              <a:t>Rp 5-8 juta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3200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2D2A26"/>
                </a:solidFill>
                <a:latin typeface="Calibri"/>
              </a:rPr>
              <a:t>Multi-Jemaat (1 Misi)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1089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300" b="1" i="0">
                <a:solidFill>
                  <a:srgbClr val="1B4332"/>
                </a:solidFill>
                <a:latin typeface="Calibri"/>
              </a:rPr>
              <a:t>Rp 60-100 juta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10896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300" b="0" i="0">
                <a:solidFill>
                  <a:srgbClr val="0F4C5C"/>
                </a:solidFill>
                <a:latin typeface="Calibri"/>
              </a:rPr>
              <a:t>Rp 12-20 juta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49040"/>
            <a:ext cx="7315200" cy="64008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49040"/>
            <a:ext cx="3200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2D2A26"/>
                </a:solidFill>
                <a:latin typeface="Calibri"/>
              </a:rPr>
              <a:t>Multi-Misi (1 Uni)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7490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300" b="1" i="0">
                <a:solidFill>
                  <a:srgbClr val="1B4332"/>
                </a:solidFill>
                <a:latin typeface="Calibri"/>
              </a:rPr>
              <a:t>Rp 150-220 juta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74904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300" b="0" i="0">
                <a:solidFill>
                  <a:srgbClr val="0F4C5C"/>
                </a:solidFill>
                <a:latin typeface="Calibri"/>
              </a:rPr>
              <a:t>Rp 25-40 juta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Maintenance SLA Options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4C5C"/>
                </a:solidFill>
                <a:latin typeface="Calibri"/>
              </a:rPr>
              <a:t>Basic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02920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D2A26"/>
                </a:solidFill>
                <a:latin typeface="Calibri"/>
              </a:rPr>
              <a:t>Email support + bug fix critical + security patch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9496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4C5C"/>
                </a:solidFill>
                <a:latin typeface="Calibri"/>
              </a:rPr>
              <a:t>Standard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39496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D2A26"/>
                </a:solidFill>
                <a:latin typeface="Calibri"/>
              </a:rPr>
              <a:t>+ telepon + minor feature + monthly checkup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4C5C"/>
                </a:solidFill>
                <a:latin typeface="Calibri"/>
              </a:rPr>
              <a:t>Premium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76072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D2A26"/>
                </a:solidFill>
                <a:latin typeface="Calibri"/>
              </a:rPr>
              <a:t>+ 24/7 emergency + dedicated WA + quarterly 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5544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Untuk Siapa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011680"/>
            <a:ext cx="3657600" cy="3657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B4332"/>
                </a:solidFill>
                <a:latin typeface="Calibri"/>
              </a:rPr>
              <a:t>Customer yang: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D2A26"/>
                </a:solidFill>
                <a:latin typeface="Calibri"/>
              </a:rPr>
              <a:t>• Tidak punya tim developer internal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D2A26"/>
                </a:solidFill>
                <a:latin typeface="Calibri"/>
              </a:rPr>
              <a:t>• Ingin fokus pelayanan, bukan IT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D2A26"/>
                </a:solidFill>
                <a:latin typeface="Calibri"/>
              </a:rPr>
              <a:t>• Butuh jaminan support &amp; SLA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2D2A26"/>
                </a:solidFill>
                <a:latin typeface="Calibri"/>
              </a:rPr>
              <a:t>• Mau recurring cost predictable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✅ Recurring revenue stabil</a:t>
            </a:r>
          </a:p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✅ Customer lock-in natural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8288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5600" b="1" i="0">
                <a:solidFill>
                  <a:srgbClr val="1B4332"/>
                </a:solidFill>
                <a:latin typeface="Cambria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74320"/>
            <a:ext cx="96012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1B4332"/>
                </a:solidFill>
                <a:latin typeface="Calibri"/>
              </a:rPr>
              <a:t>Sewa Tanpa Kontrak</a:t>
            </a:r>
          </a:p>
          <a:p>
            <a:pPr algn="l"/>
            <a:r>
              <a:rPr sz="1300" b="0" i="1">
                <a:solidFill>
                  <a:srgbClr val="1B4332"/>
                </a:solidFill>
                <a:latin typeface="Calibri"/>
              </a:rPr>
              <a:t>Pay-as-you-go · Setup fee + Monthly subscription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Setup Fee (One-time)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4864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1B4332"/>
                </a:solidFill>
                <a:latin typeface="Cambria"/>
              </a:rPr>
              <a:t>Rp 2-5 juta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per jemaat (onboarding, training, branding setup)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Monthly Subscription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60520"/>
            <a:ext cx="5486400" cy="45720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Starter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16052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&lt; 50 umat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160520"/>
            <a:ext cx="15544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300" b="1" i="0">
                <a:solidFill>
                  <a:srgbClr val="1B4332"/>
                </a:solidFill>
                <a:latin typeface="Calibri"/>
              </a:rPr>
              <a:t>Rp 200-300 rb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63440"/>
            <a:ext cx="5486400" cy="45720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66344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50-150 umat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663440"/>
            <a:ext cx="15544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300" b="1" i="0">
                <a:solidFill>
                  <a:srgbClr val="1B4332"/>
                </a:solidFill>
                <a:latin typeface="Calibri"/>
              </a:rPr>
              <a:t>Rp 350-500 rb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66360"/>
            <a:ext cx="5486400" cy="45720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6636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Premium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16636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&gt; 150 umat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166360"/>
            <a:ext cx="15544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300" b="1" i="0">
                <a:solidFill>
                  <a:srgbClr val="1B4332"/>
                </a:solidFill>
                <a:latin typeface="Calibri"/>
              </a:rPr>
              <a:t>Rp 600 rb - 1.2 jt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Customer Journey (1 jemaat Standard)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011680"/>
            <a:ext cx="5486400" cy="68580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011680"/>
            <a:ext cx="10972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Tahun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011680"/>
            <a:ext cx="256032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Setup Rp 3jt + 12× Rp 400rb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2011680"/>
            <a:ext cx="15544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300" b="1" i="0">
                <a:solidFill>
                  <a:srgbClr val="1B4332"/>
                </a:solidFill>
                <a:latin typeface="Calibri"/>
              </a:rPr>
              <a:t>Rp 7.800.000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788920"/>
            <a:ext cx="5486400" cy="68580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788920"/>
            <a:ext cx="10972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Tahun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2788920"/>
            <a:ext cx="256032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12× Rp 400rb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2788920"/>
            <a:ext cx="15544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300" b="1" i="0">
                <a:solidFill>
                  <a:srgbClr val="1B4332"/>
                </a:solidFill>
                <a:latin typeface="Calibri"/>
              </a:rPr>
              <a:t>Rp 4.800.000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566160"/>
            <a:ext cx="5486400" cy="68580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566160"/>
            <a:ext cx="10972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Tahun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566160"/>
            <a:ext cx="256032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12× Rp 400rb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3566160"/>
            <a:ext cx="15544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300" b="1" i="0">
                <a:solidFill>
                  <a:srgbClr val="1B4332"/>
                </a:solidFill>
                <a:latin typeface="Calibri"/>
              </a:rPr>
              <a:t>Rp 4.800.000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343400"/>
            <a:ext cx="5486400" cy="68580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343400"/>
            <a:ext cx="10972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Tahun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343400"/>
            <a:ext cx="256032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12× Rp 400rb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4343400"/>
            <a:ext cx="15544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300" b="1" i="0">
                <a:solidFill>
                  <a:srgbClr val="1B4332"/>
                </a:solidFill>
                <a:latin typeface="Calibri"/>
              </a:rPr>
              <a:t>Rp 4.800.000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12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1">
                <a:solidFill>
                  <a:srgbClr val="B8860B"/>
                </a:solidFill>
                <a:latin typeface="Calibri"/>
              </a:rPr>
              <a:t>Total 5 tahun: ~ Rp 27 juta · Entry point hanya Rp 4.8jt/tahun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806440"/>
            <a:ext cx="11338560" cy="822960"/>
          </a:xfrm>
          <a:prstGeom prst="roundRect">
            <a:avLst>
              <a:gd name="adj" fmla="val 4000"/>
            </a:avLst>
          </a:prstGeom>
          <a:solidFill>
            <a:srgbClr val="F5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85216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E7D32"/>
                </a:solidFill>
                <a:latin typeface="Calibri"/>
              </a:rPr>
              <a:t>✅ Barrier to entry rendah · fleksibel · bisa upgrade</a:t>
            </a:r>
          </a:p>
          <a:p>
            <a:pPr algn="l"/>
            <a:r>
              <a:rPr sz="1200" b="0" i="1">
                <a:solidFill>
                  <a:srgbClr val="6B6B6B"/>
                </a:solidFill>
                <a:latin typeface="Calibri"/>
              </a:rPr>
              <a:t>⚠ Churn risk lebih tinggi (customer bisa stop tiap saat)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8288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5600" b="1" i="0">
                <a:solidFill>
                  <a:srgbClr val="B8860B"/>
                </a:solidFill>
                <a:latin typeface="Cambria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74320"/>
            <a:ext cx="96012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Sewa Kontrak 5 Tahun</a:t>
            </a:r>
          </a:p>
          <a:p>
            <a:pPr algn="l"/>
            <a:r>
              <a:rPr sz="1300" b="0" i="1">
                <a:solidFill>
                  <a:srgbClr val="F5EFE0"/>
                </a:solidFill>
                <a:latin typeface="Calibri"/>
              </a:rPr>
              <a:t>Komitmen 5 tahun · Discount loyalty + customization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Pricing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86400" cy="50292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D2A26"/>
                </a:solidFill>
                <a:latin typeface="Calibri"/>
              </a:rPr>
              <a:t>Setup fee (one-time)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011680"/>
            <a:ext cx="1645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1B4332"/>
                </a:solidFill>
                <a:latin typeface="Calibri"/>
              </a:rPr>
              <a:t>Rp 2-5 juta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per jemaat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D2A26"/>
                </a:solidFill>
                <a:latin typeface="Calibri"/>
              </a:rPr>
              <a:t>Year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514600"/>
            <a:ext cx="1645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1B4332"/>
                </a:solidFill>
                <a:latin typeface="Calibri"/>
              </a:rPr>
              <a:t>Rp 250-500 rb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51460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per jemaat/bulan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5486400" cy="50292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D2A26"/>
                </a:solidFill>
                <a:latin typeface="Calibri"/>
              </a:rPr>
              <a:t>Year 2-5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017520"/>
            <a:ext cx="1645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1B4332"/>
                </a:solidFill>
                <a:latin typeface="Calibri"/>
              </a:rPr>
              <a:t>Rp 200-400 rb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0175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per jemaat/bulan (−15-20%)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D2A26"/>
                </a:solidFill>
                <a:latin typeface="Calibri"/>
              </a:rPr>
              <a:t>Customization 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520440"/>
            <a:ext cx="1645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1B4332"/>
                </a:solidFill>
                <a:latin typeface="Calibri"/>
              </a:rPr>
              <a:t>Rp 10-25 juta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52044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1-3 fitur custom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23360"/>
            <a:ext cx="5486400" cy="50292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2336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D2A26"/>
                </a:solidFill>
                <a:latin typeface="Calibri"/>
              </a:rPr>
              <a:t>Training onsite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023360"/>
            <a:ext cx="1645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1B4332"/>
                </a:solidFill>
                <a:latin typeface="Calibri"/>
              </a:rPr>
              <a:t>Rp 3-8 juta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02336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per visit (1-2×/tahun)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2628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D2A26"/>
                </a:solidFill>
                <a:latin typeface="Calibri"/>
              </a:rPr>
              <a:t>Early termination fee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526280"/>
            <a:ext cx="1645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1B4332"/>
                </a:solidFill>
                <a:latin typeface="Calibri"/>
              </a:rPr>
              <a:t>3 bulan subscription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52628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standard clause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Contoh: 1 Jemaat Standard · 5 Tahun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01168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D2A26"/>
                </a:solidFill>
                <a:latin typeface="Calibri"/>
              </a:rPr>
              <a:t>Setup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0116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1B4332"/>
                </a:solidFill>
                <a:latin typeface="Calibri"/>
              </a:rPr>
              <a:t>Rp 3.000.000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5603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D2A26"/>
                </a:solidFill>
                <a:latin typeface="Calibri"/>
              </a:rPr>
              <a:t>Year 1 (12 × Rp 400rb)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56032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1B4332"/>
                </a:solidFill>
                <a:latin typeface="Calibri"/>
              </a:rPr>
              <a:t>Rp 4.800.000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1089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D2A26"/>
                </a:solidFill>
                <a:latin typeface="Calibri"/>
              </a:rPr>
              <a:t>Year 2-5 (12 × Rp 320rb × 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1089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1B4332"/>
                </a:solidFill>
                <a:latin typeface="Calibri"/>
              </a:rPr>
              <a:t>Rp 15.360.000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657600"/>
            <a:ext cx="5486400" cy="457200"/>
          </a:xfrm>
          <a:prstGeom prst="roundRect">
            <a:avLst>
              <a:gd name="adj" fmla="val 4000"/>
            </a:avLst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6576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Calibri"/>
              </a:rPr>
              <a:t>Total 5 tahun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65760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300" b="1" i="0">
                <a:solidFill>
                  <a:srgbClr val="1B4332"/>
                </a:solidFill>
                <a:latin typeface="Calibri"/>
              </a:rPr>
              <a:t>Rp 23.160.000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206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Net saving vs Skenario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4805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Rp 1-3 juta + pricing stability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486400"/>
            <a:ext cx="11338560" cy="1188720"/>
          </a:xfrm>
          <a:prstGeom prst="roundRect">
            <a:avLst>
              <a:gd name="adj" fmla="val 4000"/>
            </a:avLst>
          </a:prstGeom>
          <a:solidFill>
            <a:srgbClr val="F5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53212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4332"/>
                </a:solidFill>
                <a:latin typeface="Calibri"/>
              </a:rPr>
              <a:t>Multi-jemaat 1 Misi (10 jemaat) · Total 5 tahun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D2A26"/>
                </a:solidFill>
                <a:latin typeface="Calibri"/>
              </a:rPr>
              <a:t>Setup: Rp 30jt  +  Year 1: Rp 48jt  +  Year 2-5: Rp 153.6jt</a:t>
            </a:r>
          </a:p>
          <a:p>
            <a:pPr algn="l"/>
            <a:r>
              <a:rPr sz="1300" b="1" i="0">
                <a:solidFill>
                  <a:srgbClr val="B8860B"/>
                </a:solidFill>
                <a:latin typeface="Calibri"/>
              </a:rPr>
              <a:t>=  Rp 231.6 juta untuk 5 tahun  (≈ Rp 46 juta/tahun)</a:t>
            </a:r>
          </a:p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Exit clause: customer boleh keluar akhir tahun 3 dengan penalty 1 bulan subscription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B8860B"/>
                </a:solidFill>
                <a:latin typeface="Cambria"/>
              </a:rPr>
              <a:t>Rekomendasi Strategis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Untuk demo 4 jam ini, lead dengan Skenario 3 lalu upsell ke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286000" cy="457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B8860B"/>
                </a:solidFill>
                <a:latin typeface="Calibri"/>
              </a:rPr>
              <a:t>Kriteria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011680"/>
            <a:ext cx="2194560" cy="457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01168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B8860B"/>
                </a:solidFill>
                <a:latin typeface="Calibri"/>
              </a:rPr>
              <a:t>S1 Jual Lepas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011680"/>
            <a:ext cx="2194560" cy="457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01168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B8860B"/>
                </a:solidFill>
                <a:latin typeface="Calibri"/>
              </a:rPr>
              <a:t>S2 Jual Kontrol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011680"/>
            <a:ext cx="2194560" cy="457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01168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B8860B"/>
                </a:solidFill>
                <a:latin typeface="Calibri"/>
              </a:rPr>
              <a:t>S3 Sewa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2011680"/>
            <a:ext cx="2468880" cy="457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01168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B8860B"/>
                </a:solidFill>
                <a:latin typeface="Calibri"/>
              </a:rPr>
              <a:t>S4 Kontrak 5Y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68880"/>
            <a:ext cx="2286000" cy="50292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6888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2D2A26"/>
                </a:solidFill>
                <a:latin typeface="Calibri"/>
              </a:rPr>
              <a:t>Entry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468880"/>
            <a:ext cx="2194560" cy="50292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246888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2D2A26"/>
                </a:solidFill>
                <a:latin typeface="Calibri"/>
              </a:rPr>
              <a:t>Rp 35jt+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468880"/>
            <a:ext cx="2194560" cy="50292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46888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2D2A26"/>
                </a:solidFill>
                <a:latin typeface="Calibri"/>
              </a:rPr>
              <a:t>Rp 20jt+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468880"/>
            <a:ext cx="2194560" cy="50292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246888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B8860B"/>
                </a:solidFill>
                <a:latin typeface="Calibri"/>
              </a:rPr>
              <a:t>Rp 3jt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2468880"/>
            <a:ext cx="2468880" cy="50292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24688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B8860B"/>
                </a:solidFill>
                <a:latin typeface="Calibri"/>
              </a:rPr>
              <a:t>Rp 3jt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97180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2D2A26"/>
                </a:solidFill>
                <a:latin typeface="Calibri"/>
              </a:rPr>
              <a:t>Recurring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297180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2D2A26"/>
                </a:solidFill>
                <a:latin typeface="Calibri"/>
              </a:rPr>
              <a:t>Tidak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97180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2D2A26"/>
                </a:solidFill>
                <a:latin typeface="Calibri"/>
              </a:rPr>
              <a:t>Ada (maint)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97180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B8860B"/>
                </a:solidFill>
                <a:latin typeface="Calibri"/>
              </a:rPr>
              <a:t>Bulanan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9718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B8860B"/>
                </a:solidFill>
                <a:latin typeface="Calibri"/>
              </a:rPr>
              <a:t>Bulanan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474720"/>
            <a:ext cx="2286000" cy="50292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47472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2D2A26"/>
                </a:solidFill>
                <a:latin typeface="Calibri"/>
              </a:rPr>
              <a:t>Komitmen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3474720"/>
            <a:ext cx="2194560" cy="50292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347472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2D2A26"/>
                </a:solidFill>
                <a:latin typeface="Calibri"/>
              </a:rPr>
              <a:t>Tidak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0" y="3474720"/>
            <a:ext cx="2194560" cy="50292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347472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2D2A26"/>
                </a:solidFill>
                <a:latin typeface="Calibri"/>
              </a:rPr>
              <a:t>Maintenance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3474720"/>
            <a:ext cx="2194560" cy="50292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0" y="347472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B8860B"/>
                </a:solidFill>
                <a:latin typeface="Calibri"/>
              </a:rPr>
              <a:t>Tidak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3474720"/>
            <a:ext cx="2468880" cy="50292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347472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B8860B"/>
                </a:solidFill>
                <a:latin typeface="Calibri"/>
              </a:rPr>
              <a:t>5 tahun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97764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2D2A26"/>
                </a:solidFill>
                <a:latin typeface="Calibri"/>
              </a:rPr>
              <a:t>Resale risk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397764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2D2A26"/>
                </a:solidFill>
                <a:latin typeface="Calibri"/>
              </a:rPr>
              <a:t>Tinggi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397764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2D2A26"/>
                </a:solidFill>
                <a:latin typeface="Calibri"/>
              </a:rPr>
              <a:t>Rendah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397764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B8860B"/>
                </a:solidFill>
                <a:latin typeface="Calibri"/>
              </a:rPr>
              <a:t>Rendah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3977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B8860B"/>
                </a:solidFill>
                <a:latin typeface="Calibri"/>
              </a:rPr>
              <a:t>Sangat rendah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480560"/>
            <a:ext cx="2286000" cy="50292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48056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2D2A26"/>
                </a:solidFill>
                <a:latin typeface="Calibri"/>
              </a:rPr>
              <a:t>Recurring revenue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4480560"/>
            <a:ext cx="2194560" cy="50292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4640" y="448056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2D2A26"/>
                </a:solidFill>
                <a:latin typeface="Calibri"/>
              </a:rPr>
              <a:t>Tidak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4480560"/>
            <a:ext cx="2194560" cy="50292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0" y="448056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2D2A26"/>
                </a:solidFill>
                <a:latin typeface="Calibri"/>
              </a:rPr>
              <a:t>Stabil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4480560"/>
            <a:ext cx="2194560" cy="50292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3760" y="448056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B8860B"/>
                </a:solidFill>
                <a:latin typeface="Calibri"/>
              </a:rPr>
              <a:t>Prediktable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4480560"/>
            <a:ext cx="2468880" cy="50292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18320" y="4480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B8860B"/>
                </a:solidFill>
                <a:latin typeface="Calibri"/>
              </a:rPr>
              <a:t>Sangat stabil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498348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2D2A26"/>
                </a:solidFill>
                <a:latin typeface="Calibri"/>
              </a:rPr>
              <a:t>Best for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34640" y="498348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2D2A26"/>
                </a:solidFill>
                <a:latin typeface="Calibri"/>
              </a:rPr>
              <a:t>Multi-uni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498348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2D2A26"/>
                </a:solidFill>
                <a:latin typeface="Calibri"/>
              </a:rPr>
              <a:t>Single uni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498348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B8860B"/>
                </a:solidFill>
                <a:latin typeface="Calibri"/>
              </a:rPr>
              <a:t>Entry level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20" y="4983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B8860B"/>
                </a:solidFill>
                <a:latin typeface="Calibri"/>
              </a:rPr>
              <a:t>Serious customer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5486400"/>
            <a:ext cx="11338560" cy="1188720"/>
          </a:xfrm>
          <a:prstGeom prst="roundRect">
            <a:avLst>
              <a:gd name="adj" fmla="val 4000"/>
            </a:avLst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553212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STRATEGI DEMO: Lead dengan Skenario 3, upsell ke 4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B4332"/>
                </a:solidFill>
                <a:latin typeface="Calibri"/>
              </a:rPr>
              <a:t>Entry point Rp 4.8jt/tahun · barrier rendah · customer test dulu · upgrade jika puas</a:t>
            </a:r>
          </a:p>
          <a:p>
            <a:pPr algn="l"/>
            <a:r>
              <a:rPr sz="1100" b="0" i="1">
                <a:solidFill>
                  <a:srgbClr val="1B4332"/>
                </a:solidFill>
                <a:latin typeface="Calibri"/>
              </a:rPr>
              <a:t>Tahan Skenario 1 &amp; 2 untuk fase berikutnya (customer sudah yakin atau denominasi lain)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640080" cy="640080"/>
          </a:xfrm>
          <a:prstGeom prst="roundRect">
            <a:avLst>
              <a:gd name="adj" fmla="val 4000"/>
            </a:avLst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B8860B"/>
                </a:solidFill>
                <a:latin typeface="Cambria"/>
              </a:rPr>
              <a:t>FLIPUS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8686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F5EFE0"/>
                </a:solidFill>
                <a:latin typeface="Calibri"/>
              </a:rPr>
              <a:t>GMAHK · UKIKT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800" b="1" i="0">
                <a:solidFill>
                  <a:srgbClr val="B8860B"/>
                </a:solidFill>
                <a:latin typeface="Cambria"/>
              </a:rPr>
              <a:t>Mari Teruskan Diskusi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Pilih skenario yang paling sesuai untuk jemaat Anda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206240"/>
            <a:ext cx="576072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429768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1B4332"/>
                </a:solidFill>
                <a:latin typeface="Cambria"/>
              </a:rPr>
              <a:t>Jerry Mauri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66344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Calibri"/>
              </a:rPr>
              <a:t>Solution Architect · FLIPUS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166360"/>
            <a:ext cx="5760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B4332"/>
                </a:solidFill>
                <a:latin typeface="Calibri"/>
              </a:rPr>
              <a:t>support@flipus.org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B4332"/>
                </a:solidFill>
                <a:latin typeface="Calibri"/>
              </a:rPr>
              <a:t>https://flipus.org</a:t>
            </a:r>
          </a:p>
          <a:p>
            <a:pPr algn="ctr"/>
            <a:r>
              <a:rPr sz="1300" b="0" i="0">
                <a:solidFill>
                  <a:srgbClr val="1B4332"/>
                </a:solidFill>
                <a:latin typeface="Calibri"/>
              </a:rPr>
              <a:t>WhatsApp: +62-xxx-xxx-xxxx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F5EFE0"/>
                </a:solidFill>
                <a:latin typeface="Calibri"/>
              </a:rPr>
              <a:t>© 2026 GMAHK UKIKT  ·  FLIPUS v1.3.1  ·  Agustus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